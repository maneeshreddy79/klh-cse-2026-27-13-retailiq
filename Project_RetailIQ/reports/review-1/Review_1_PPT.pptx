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2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34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ACCESS.2025.3572865" TargetMode="External"/><Relationship Id="rId2" Type="http://schemas.openxmlformats.org/officeDocument/2006/relationships/hyperlink" Target="https://link.springer.com/article/10.1007/s43995-025-00180-7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9/ICETITE58242.2024.10493283" TargetMode="External"/><Relationship Id="rId5" Type="http://schemas.openxmlformats.org/officeDocument/2006/relationships/hyperlink" Target="https://link.springer.com/article/10.1007/s10479-023-05259-9" TargetMode="External"/><Relationship Id="rId4" Type="http://schemas.openxmlformats.org/officeDocument/2006/relationships/hyperlink" Target="https://link.springer.com/article/10.1186/s40537-025-01111-y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42979-023-01888-w" TargetMode="External"/><Relationship Id="rId2" Type="http://schemas.openxmlformats.org/officeDocument/2006/relationships/hyperlink" Target="https://link.springer.com/article/10.1057/s41270-023-00235-5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9/ITIS57155.2022.10010135" TargetMode="External"/><Relationship Id="rId5" Type="http://schemas.openxmlformats.org/officeDocument/2006/relationships/hyperlink" Target="https://doi.org/10.1109/Confluence56041.2023.10048834" TargetMode="External"/><Relationship Id="rId4" Type="http://schemas.openxmlformats.org/officeDocument/2006/relationships/hyperlink" Target="https://doi.org/10.1007/978-981-99-4071-4_27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27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828800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98480" y="4572000"/>
            <a:ext cx="1490472" cy="2286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2509" y="11430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INTELLIGENT RETAIL</a:t>
            </a:r>
            <a:br>
              <a:rPr dirty="0"/>
            </a:br>
            <a:r>
              <a:rPr dirty="0"/>
              <a:t>CUSTOMER ANALYTICS</a:t>
            </a:r>
          </a:p>
          <a:p>
            <a:pPr>
              <a:defRPr sz="1700">
                <a:solidFill>
                  <a:srgbClr val="D2E1EE"/>
                </a:solidFill>
                <a:latin typeface="Aptos"/>
              </a:defRPr>
            </a:pPr>
            <a:r>
              <a:rPr dirty="0"/>
              <a:t>A Comprehensive Machine Learning Framework for Automated Business Feedback Generation and Strategic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509" y="2821821"/>
            <a:ext cx="4222631" cy="2723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PROJECT REVIEW – I  •  BATCH 13  •  08-08-2026</a:t>
            </a:r>
            <a:endParaRPr lang="en-US" dirty="0"/>
          </a:p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endParaRPr lang="en-IN" dirty="0"/>
          </a:p>
          <a:p>
            <a:pPr>
              <a:lnSpc>
                <a:spcPct val="127000"/>
              </a:lnSpc>
              <a:spcAft>
                <a:spcPts val="900"/>
              </a:spcAft>
            </a:pPr>
            <a:r>
              <a:rPr lang="en-US" sz="1400" b="1" dirty="0">
                <a:solidFill>
                  <a:schemeClr val="accent6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Department of Computer Science and Engineering</a:t>
            </a:r>
            <a:endParaRPr lang="en-US" sz="1400" dirty="0">
              <a:solidFill>
                <a:schemeClr val="accent6"/>
              </a:solidFill>
            </a:endParaRPr>
          </a:p>
          <a:p>
            <a:pPr>
              <a:lnSpc>
                <a:spcPct val="127000"/>
              </a:lnSpc>
            </a:pPr>
            <a:r>
              <a:rPr lang="en-US" sz="1400" b="1" dirty="0">
                <a:solidFill>
                  <a:schemeClr val="accent6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Team Members:</a:t>
            </a:r>
            <a:r>
              <a:rPr lang="en-US" sz="1400" b="1" dirty="0">
                <a:solidFill>
                  <a:schemeClr val="accent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171450" indent="-171450">
              <a:lnSpc>
                <a:spcPct val="127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V. Maneesh Kumar Reddy-2420030246</a:t>
            </a:r>
          </a:p>
          <a:p>
            <a:pPr marL="171450" indent="-171450">
              <a:lnSpc>
                <a:spcPct val="127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Y. Guna Veera Sri Amith-2420030234</a:t>
            </a:r>
          </a:p>
          <a:p>
            <a:pPr marL="171450" indent="-171450">
              <a:lnSpc>
                <a:spcPct val="127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K. Kumar Satya Sai-2420030202</a:t>
            </a:r>
          </a:p>
          <a:p>
            <a:pPr marL="171450" indent="-171450">
              <a:lnSpc>
                <a:spcPct val="127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P. Akhil Kumar Reddy-2420030496</a:t>
            </a:r>
            <a:endParaRPr lang="en-US" sz="1400" dirty="0">
              <a:solidFill>
                <a:schemeClr val="accent6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ct val="127000"/>
              </a:lnSpc>
            </a:pPr>
            <a:r>
              <a:rPr lang="en-US" sz="1400" b="1" dirty="0">
                <a:solidFill>
                  <a:schemeClr val="accent6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Faculty Guide:</a:t>
            </a:r>
            <a:r>
              <a:rPr lang="en-US" sz="1400" b="1" dirty="0">
                <a:solidFill>
                  <a:schemeClr val="accent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K. Swapnika</a:t>
            </a:r>
            <a:endParaRPr lang="en-US" sz="1400" dirty="0">
              <a:solidFill>
                <a:schemeClr val="accent6"/>
              </a:solidFill>
            </a:endParaRPr>
          </a:p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4630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2E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8291"/>
                </a:solidFill>
                <a:latin typeface="Aptos"/>
              </a:defRPr>
            </a:pPr>
            <a:r>
              <a:t>Project Review – I  |  Batch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16151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09928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03C"/>
                </a:solidFill>
                <a:latin typeface="Aptos"/>
              </a:defRPr>
            </a:pPr>
            <a:r>
              <a:t>Retail businesses generate large volumes of customer transaction data, but analytics are often handled separately through dashboards, segmentation, predictive models, and association-rule mining.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216151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t>The consequence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0992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03C"/>
                </a:solidFill>
                <a:latin typeface="Aptos"/>
              </a:defRPr>
            </a:pPr>
            <a:r>
              <a:t>Business users must manually interpret multiple analytical outputs before making strategic decisions, creating a gap between data-driven insights and business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447" y="3236976"/>
            <a:ext cx="10972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451860"/>
            <a:ext cx="10561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rPr dirty="0"/>
              <a:t>Proposed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47" y="4078224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03C"/>
                </a:solidFill>
                <a:latin typeface="Aptos"/>
              </a:defRPr>
            </a:pPr>
            <a:r>
              <a:rPr dirty="0"/>
              <a:t>An integrated ML + Business Intelligence framework combines customer analytics, segmentation, anomaly detection, market basket analysis, sales analysis, and product performance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440680"/>
            <a:ext cx="10972800" cy="722376"/>
          </a:xfrm>
          <a:prstGeom prst="roundRect">
            <a:avLst/>
          </a:prstGeom>
          <a:solidFill>
            <a:srgbClr val="E6F3F4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15187" y="5504688"/>
            <a:ext cx="10561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rPr dirty="0"/>
              <a:t>Key differentiator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75020"/>
            <a:ext cx="10515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03C"/>
                </a:solidFill>
                <a:latin typeface="Aptos"/>
              </a:defRPr>
            </a:pPr>
            <a:r>
              <a:rPr dirty="0"/>
              <a:t>Automated Business Feedback Generation Engine → actionable recommendations + overall Business Health Verdict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14630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2E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8291"/>
                </a:solidFill>
                <a:latin typeface="Aptos"/>
              </a:defRPr>
            </a:pPr>
            <a:r>
              <a:t>Project Review – I  |  Batch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" y="1170432"/>
            <a:ext cx="594360" cy="594360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35024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156335"/>
            <a:ext cx="4069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F34"/>
                </a:solidFill>
                <a:latin typeface="Aptos"/>
              </a:defRPr>
            </a:pPr>
            <a:r>
              <a:rPr dirty="0"/>
              <a:t>Develop a unified retail analytics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484757"/>
            <a:ext cx="34949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26303C"/>
                </a:solidFill>
                <a:latin typeface="Aptos"/>
              </a:defRPr>
            </a:pPr>
            <a:r>
              <a:rPr sz="1000" dirty="0"/>
              <a:t>Integrate customer, product, sales, and purchasing analytics instead of treating them as separate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9144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82512" y="1170432"/>
            <a:ext cx="594360" cy="594360"/>
          </a:xfrm>
          <a:prstGeom prst="ellipse">
            <a:avLst/>
          </a:prstGeom>
          <a:solidFill>
            <a:srgbClr val="27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335024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078992"/>
            <a:ext cx="4069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F34"/>
                </a:solidFill>
                <a:latin typeface="Aptos"/>
              </a:defRPr>
            </a:pPr>
            <a:r>
              <a:t>Integrate multiple ML &amp; data-mining techniques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481328"/>
            <a:ext cx="3886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26303C"/>
                </a:solidFill>
                <a:latin typeface="Aptos"/>
              </a:defRPr>
            </a:pPr>
            <a:r>
              <a:rPr sz="1000" dirty="0"/>
              <a:t>Combine RFM, K-Means/DBSCAN, anomaly detection, and </a:t>
            </a:r>
            <a:r>
              <a:rPr sz="1000" dirty="0" err="1"/>
              <a:t>Apriori</a:t>
            </a:r>
            <a:r>
              <a:rPr sz="1000" dirty="0"/>
              <a:t>-based market basket analysis in one framework.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59152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58952" y="2615184"/>
            <a:ext cx="594360" cy="594360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277977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9785" y="2464049"/>
            <a:ext cx="4654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1F34"/>
                </a:solidFill>
                <a:latin typeface="Aptos"/>
              </a:defRPr>
            </a:pPr>
            <a:r>
              <a:rPr dirty="0"/>
              <a:t>Connect customer insights with business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2851137"/>
            <a:ext cx="3247263" cy="539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26303C"/>
                </a:solidFill>
                <a:latin typeface="Aptos"/>
              </a:defRPr>
            </a:pPr>
            <a:r>
              <a:rPr dirty="0"/>
              <a:t>Link customer segmentation and purchasing patterns with product performance, revenue, retention, and key business KPIs.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359152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82512" y="2615184"/>
            <a:ext cx="594360" cy="594360"/>
          </a:xfrm>
          <a:prstGeom prst="ellipse">
            <a:avLst/>
          </a:prstGeom>
          <a:solidFill>
            <a:srgbClr val="27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277977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523744"/>
            <a:ext cx="4069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F34"/>
                </a:solidFill>
                <a:latin typeface="Aptos"/>
              </a:defRPr>
            </a:pPr>
            <a:r>
              <a:t>Automate actionable business 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926080"/>
            <a:ext cx="3706368" cy="539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26303C"/>
                </a:solidFill>
                <a:latin typeface="Aptos"/>
              </a:defRPr>
            </a:pPr>
            <a:r>
              <a:rPr dirty="0"/>
              <a:t>Convert combined analytical and ML outputs into recommendations for marketing, inventory, customer retention, and revenue improvement.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803904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58952" y="4059936"/>
            <a:ext cx="594360" cy="594360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4224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9785" y="3933114"/>
            <a:ext cx="4069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F34"/>
                </a:solidFill>
                <a:latin typeface="Aptos"/>
              </a:defRPr>
            </a:pPr>
            <a:r>
              <a:rPr dirty="0"/>
              <a:t>Generate an overall Business Health Verdict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2743" y="4370832"/>
            <a:ext cx="3776472" cy="39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26303C"/>
                </a:solidFill>
                <a:latin typeface="Aptos"/>
              </a:defRPr>
            </a:pPr>
            <a:r>
              <a:rPr dirty="0"/>
              <a:t>Synthesize complex analytics into a concise view of business strengths, risks, and growth opportunities.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803904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382512" y="4059936"/>
            <a:ext cx="594360" cy="594360"/>
          </a:xfrm>
          <a:prstGeom prst="ellipse">
            <a:avLst/>
          </a:prstGeom>
          <a:solidFill>
            <a:srgbClr val="27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4224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968496"/>
            <a:ext cx="4069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F34"/>
                </a:solidFill>
                <a:latin typeface="Aptos"/>
              </a:defRPr>
            </a:pPr>
            <a:r>
              <a:t>Provide integrated visualization &amp; decision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370832"/>
            <a:ext cx="3749040" cy="39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26303C"/>
                </a:solidFill>
                <a:latin typeface="Aptos"/>
              </a:defRPr>
            </a:pPr>
            <a:r>
              <a:rPr dirty="0"/>
              <a:t>Develop Power BI dashboards that present the combined insights in an understandable form for business users.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" y="5468112"/>
            <a:ext cx="10241280" cy="658368"/>
          </a:xfrm>
          <a:prstGeom prst="roundRect">
            <a:avLst/>
          </a:prstGeom>
          <a:solidFill>
            <a:srgbClr val="E6F3F4"/>
          </a:solidFill>
          <a:ln>
            <a:solidFill>
              <a:srgbClr val="BE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563270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F8B89"/>
                </a:solidFill>
                <a:latin typeface="Aptos"/>
              </a:defRPr>
            </a:pPr>
            <a:r>
              <a:t>Literature Gaps → Integrated Analytics → Automated Business Feedback → Strategic Decision Support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44A54-AD2C-6791-71AD-B1F094C6B062}"/>
              </a:ext>
            </a:extLst>
          </p:cNvPr>
          <p:cNvSpPr txBox="1"/>
          <p:nvPr/>
        </p:nvSpPr>
        <p:spPr>
          <a:xfrm>
            <a:off x="388168" y="78712"/>
            <a:ext cx="931368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FFFF"/>
                </a:solidFill>
                <a:latin typeface="Aptos Display"/>
              </a:rPr>
              <a:t>Objectives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Literature Survey — Limitations &amp; 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46304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2E1"/>
                </a:solidFill>
                <a:latin typeface="Aptos"/>
              </a:defRPr>
            </a:pPr>
            <a:r>
              <a:t>03A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169921"/>
              </p:ext>
            </p:extLst>
          </p:nvPr>
        </p:nvGraphicFramePr>
        <p:xfrm>
          <a:off x="164592" y="896112"/>
          <a:ext cx="11777471" cy="523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050" dirty="0"/>
                        <a:t>Year</a:t>
                      </a:r>
                    </a:p>
                  </a:txBody>
                  <a:tcPr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050"/>
                        <a:t>Paper Title</a:t>
                      </a:r>
                    </a:p>
                  </a:txBody>
                  <a:tcPr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050"/>
                        <a:t>Research Focus</a:t>
                      </a:r>
                    </a:p>
                  </a:txBody>
                  <a:tcPr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050"/>
                        <a:t>Method / Technique</a:t>
                      </a:r>
                    </a:p>
                  </a:txBody>
                  <a:tcPr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050"/>
                        <a:t>Limitations Identified</a:t>
                      </a:r>
                    </a:p>
                  </a:txBody>
                  <a:tcPr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050" dirty="0"/>
                        <a:t>Research Gaps Relevant to our Project</a:t>
                      </a:r>
                    </a:p>
                  </a:txBody>
                  <a:tcPr>
                    <a:solidFill>
                      <a:srgbClr val="12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 u="sng" dirty="0">
                          <a:solidFill>
                            <a:srgbClr val="275B8F"/>
                          </a:solidFill>
                          <a:hlinkClick r:id="rId2"/>
                        </a:rPr>
                        <a:t>Intelligent customer segmentation: unveiling consumer patterns with machine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Customer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RFM + Bisecting K-Means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The study is centered on customer segmentation and does not integrate segmentation with product, sales, anomaly, and purchasing-pattern analytics.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F8B89"/>
                          </a:solidFill>
                          <a:latin typeface="Aptos"/>
                        </a:defRPr>
                      </a:pPr>
                      <a:r>
                        <a:rPr sz="1050"/>
                        <a:t>An integrated framework is needed to combine customer segmentation with product, sales, purchasing behavior, and other retail analytics.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2025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 u="sng">
                          <a:solidFill>
                            <a:srgbClr val="275B8F"/>
                          </a:solidFill>
                          <a:hlinkClick r:id="rId3"/>
                        </a:rPr>
                        <a:t>Machine Learning in E-Commerce: Trends, Applications, and Future Challenges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ML in E-Commerce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ML, DL, Recommendation, Segmentation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The work reviews major ML applications but does not establish a unified framework that combines analytical outputs for strategic business decisions.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F8B89"/>
                          </a:solidFill>
                          <a:latin typeface="Aptos"/>
                        </a:defRPr>
                      </a:pPr>
                      <a:r>
                        <a:rPr sz="1050"/>
                        <a:t>A unified retail analytics framework is needed to integrate multiple ML/data-mining outputs and bridge analytical results with business decision-making.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 u="sng">
                          <a:solidFill>
                            <a:srgbClr val="275B8F"/>
                          </a:solidFill>
                          <a:hlinkClick r:id="rId4"/>
                        </a:rPr>
                        <a:t>Discovering customer segments through interaction behaviors for home appliance 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Customer Interaction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ML + Data Mining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The research improves customer segmentation using interaction behavior, but remains focused on segmentation rather than end-to-end retail performance analysis and recommendations.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F8B89"/>
                          </a:solidFill>
                          <a:latin typeface="Aptos"/>
                        </a:defRPr>
                      </a:pPr>
                      <a:r>
                        <a:rPr sz="1050"/>
                        <a:t>Customer interaction insights need to be connected with customer value, sales/product performance, and automated business recommendations.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2024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 u="sng">
                          <a:solidFill>
                            <a:srgbClr val="275B8F"/>
                          </a:solidFill>
                          <a:hlinkClick r:id="rId5"/>
                        </a:rPr>
                        <a:t>Exploiting time-varying RFM measures for customer churn prediction with deep neural networks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Customer Churn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RFM + Deep Learning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The study focuses on churn prediction and does not combine churn/retention analysis with product performance, market basket patterns, anomalies, and broader retail KPIs.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F8B89"/>
                          </a:solidFill>
                          <a:latin typeface="Aptos"/>
                        </a:defRPr>
                      </a:pPr>
                      <a:r>
                        <a:rPr sz="1050"/>
                        <a:t>A broader customer and business analytics layer is needed to evaluate retention together with customer value, purchasing behavior, product performance, and business KPIs.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 u="sng" dirty="0">
                          <a:solidFill>
                            <a:srgbClr val="275B8F"/>
                          </a:solidFill>
                          <a:hlinkClick r:id="rId6"/>
                        </a:rPr>
                        <a:t>Market Basket Analysis for Retail Sales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Retail Market Basket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Association Rule Mining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The research identifies product associations but does not integrate basket insights with customer segmentation, anomaly detection, retention, and overall business performance.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F8B89"/>
                          </a:solidFill>
                          <a:latin typeface="Aptos"/>
                        </a:defRPr>
                      </a:pPr>
                      <a:r>
                        <a:rPr sz="1050" dirty="0"/>
                        <a:t>Market basket insights should be combined with customer, product, sales, and anomaly analytics to support broader retail decisions.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199632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70" i="1">
                <a:solidFill>
                  <a:srgbClr val="697887"/>
                </a:solidFill>
                <a:latin typeface="Aptos"/>
              </a:defRPr>
            </a:pPr>
            <a:r>
              <a:t>The new column reframes each limitation from the project's perspective: what is still missing in the literature that our proposed framework intends to address.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887"/>
                </a:solidFill>
                <a:latin typeface="Aptos"/>
              </a:defRPr>
            </a:pPr>
            <a:r>
              <a:t>Project Review – I  |  Batch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Literature Survey — Limitations &amp; 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146304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2E1"/>
                </a:solidFill>
                <a:latin typeface="Aptos"/>
              </a:defRPr>
            </a:pPr>
            <a:r>
              <a:t>03B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672149"/>
              </p:ext>
            </p:extLst>
          </p:nvPr>
        </p:nvGraphicFramePr>
        <p:xfrm>
          <a:off x="164592" y="896112"/>
          <a:ext cx="11777471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5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050"/>
                        <a:t>Year</a:t>
                      </a:r>
                    </a:p>
                  </a:txBody>
                  <a:tcPr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050"/>
                        <a:t>Paper Title</a:t>
                      </a:r>
                    </a:p>
                  </a:txBody>
                  <a:tcPr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050"/>
                        <a:t>Research Focus</a:t>
                      </a:r>
                    </a:p>
                  </a:txBody>
                  <a:tcPr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050"/>
                        <a:t>Method / Technique</a:t>
                      </a:r>
                    </a:p>
                  </a:txBody>
                  <a:tcPr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050"/>
                        <a:t>Limitations Identified</a:t>
                      </a:r>
                    </a:p>
                  </a:txBody>
                  <a:tcPr>
                    <a:solidFill>
                      <a:srgbClr val="12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050"/>
                        <a:t>Research Gaps Relevant to our Project</a:t>
                      </a:r>
                    </a:p>
                  </a:txBody>
                  <a:tcPr>
                    <a:solidFill>
                      <a:srgbClr val="12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 u="sng">
                          <a:solidFill>
                            <a:srgbClr val="275B8F"/>
                          </a:solidFill>
                          <a:hlinkClick r:id="rId2"/>
                        </a:rPr>
                        <a:t>How can algorithms help in segmenting users and customers? A systematic review and research agenda for algorithmic customer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Customer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Systematic Review +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The review discusses segmentation algorithms but does not provide an integrated operational framework that converts multiple analytics into actionable business recommendations.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F8B89"/>
                          </a:solidFill>
                          <a:latin typeface="Aptos"/>
                        </a:defRPr>
                      </a:pPr>
                      <a:r>
                        <a:rPr sz="1050" dirty="0"/>
                        <a:t>There is a need to move from isolated segmentation methods toward an integrated analytics and automated business-feedback framework.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2023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 u="sng" dirty="0">
                          <a:solidFill>
                            <a:srgbClr val="275B8F"/>
                          </a:solidFill>
                          <a:hlinkClick r:id="rId3"/>
                        </a:rPr>
                        <a:t>Identifying Application Areas for Machine Learning in the Retail Sector: A Literature Review and Interview Study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Retail ML Applications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Machine Learning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The study identifies retail ML application areas but does not implement a unified pipeline connecting these analytics to automated business feedback.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F8B89"/>
                          </a:solidFill>
                          <a:latin typeface="Aptos"/>
                        </a:defRPr>
                      </a:pPr>
                      <a:r>
                        <a:rPr sz="1050"/>
                        <a:t>An implemented end-to-end framework is needed to connect retail ML applications, visualization, evaluation, and automated recommendations.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 u="sng">
                          <a:solidFill>
                            <a:srgbClr val="275B8F"/>
                          </a:solidFill>
                          <a:hlinkClick r:id="rId4"/>
                        </a:rPr>
                        <a:t>A Study of Customer Segmentation Based on RFM Analysis and K-Means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Customer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RFM + K-Means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The study primarily supports customer profiling/segmentation and does not extend the analysis to anomaly detection, market basket analysis, dashboards, and combined business recommendations.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F8B89"/>
                          </a:solidFill>
                          <a:latin typeface="Aptos"/>
                        </a:defRPr>
                      </a:pPr>
                      <a:r>
                        <a:rPr sz="1050"/>
                        <a:t>Customer segmentation needs to be integrated with anomaly detection, market basket analysis, business KPIs, and interactive visualization.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2023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 u="sng">
                          <a:solidFill>
                            <a:srgbClr val="275B8F"/>
                          </a:solidFill>
                          <a:hlinkClick r:id="rId5"/>
                        </a:rPr>
                        <a:t>Customer Segmentation of E-commerce Data Using K-Means Clustering Algorithm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Retail Customer Segmentation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ML Clustering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The study identifies customer groups using clustering but does not provide a multi-analytics business decision-support layer.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F8B89"/>
                          </a:solidFill>
                          <a:latin typeface="Aptos"/>
                        </a:defRPr>
                      </a:pPr>
                      <a:r>
                        <a:rPr sz="1050"/>
                        <a:t>An integrated layer is needed to connect customer groups with sales, product, purchasing-pattern, and business-health analysis.</a:t>
                      </a:r>
                    </a:p>
                  </a:txBody>
                  <a:tcPr>
                    <a:solidFill>
                      <a:srgbClr val="EB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 u="sng" dirty="0">
                          <a:solidFill>
                            <a:srgbClr val="275B8F"/>
                          </a:solidFill>
                          <a:hlinkClick r:id="rId6"/>
                        </a:rPr>
                        <a:t>K-Means and K-Medoids Clustering Methods for Customer Segmentation in Online Retail Datasets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Online Retail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K-Means + K-Medoids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sz="1050"/>
                        <a:t>The comparison remains algorithm/task-specific and does not translate combined retail analytics into automated business recommendations.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1F8B89"/>
                          </a:solidFill>
                          <a:latin typeface="Aptos"/>
                        </a:defRPr>
                      </a:pPr>
                      <a:r>
                        <a:rPr sz="1050" dirty="0"/>
                        <a:t>The project needs to extend beyond clustering comparison toward integrated retail analytics and automated interpretation of combined results.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199632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70" i="1">
                <a:solidFill>
                  <a:srgbClr val="697887"/>
                </a:solidFill>
                <a:latin typeface="Aptos"/>
              </a:defRPr>
            </a:pPr>
            <a:r>
              <a:t>Research gaps are derived from the paper scope/findings in the Review-1 literature survey and connected to the integrated analytics, visualization, recommendation, and business-health goals of this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887"/>
                </a:solidFill>
                <a:latin typeface="Aptos"/>
              </a:defRPr>
            </a:pPr>
            <a:r>
              <a:t>Project Review – I  |  Batch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Research Gap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4630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2E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8291"/>
                </a:solidFill>
                <a:latin typeface="Aptos"/>
              </a:defRPr>
            </a:pPr>
            <a:r>
              <a:t>Project Review – I  |  Batch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3474720" cy="109728"/>
          </a:xfrm>
          <a:prstGeom prst="rect">
            <a:avLst/>
          </a:prstGeom>
          <a:solidFill>
            <a:srgbClr val="27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1887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What literature does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2926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303C"/>
                </a:solidFill>
                <a:latin typeface="Aptos"/>
              </a:defRPr>
            </a:pPr>
            <a:r>
              <a:t>• Customer segmentation</a:t>
            </a:r>
          </a:p>
          <a:p>
            <a:pPr>
              <a:spcAft>
                <a:spcPts val="1000"/>
              </a:spcAft>
              <a:defRPr sz="1300">
                <a:solidFill>
                  <a:srgbClr val="26303C"/>
                </a:solidFill>
                <a:latin typeface="Aptos"/>
              </a:defRPr>
            </a:pPr>
            <a:r>
              <a:t>• Churn prediction</a:t>
            </a:r>
          </a:p>
          <a:p>
            <a:pPr>
              <a:spcAft>
                <a:spcPts val="1000"/>
              </a:spcAft>
              <a:defRPr sz="1300">
                <a:solidFill>
                  <a:srgbClr val="26303C"/>
                </a:solidFill>
                <a:latin typeface="Aptos"/>
              </a:defRPr>
            </a:pPr>
            <a:r>
              <a:t>• Market basket analysis</a:t>
            </a:r>
          </a:p>
          <a:p>
            <a:pPr>
              <a:spcAft>
                <a:spcPts val="1000"/>
              </a:spcAft>
              <a:defRPr sz="1300">
                <a:solidFill>
                  <a:srgbClr val="26303C"/>
                </a:solidFill>
                <a:latin typeface="Aptos"/>
              </a:defRPr>
            </a:pPr>
            <a:r>
              <a:t>• Recommendation</a:t>
            </a:r>
          </a:p>
          <a:p>
            <a:pPr>
              <a:spcAft>
                <a:spcPts val="1000"/>
              </a:spcAft>
              <a:defRPr sz="1300">
                <a:solidFill>
                  <a:srgbClr val="26303C"/>
                </a:solidFill>
                <a:latin typeface="Aptos"/>
              </a:defRPr>
            </a:pPr>
            <a:r>
              <a:t>• Sales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96012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960120"/>
            <a:ext cx="3474720" cy="109728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1887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Observed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737360"/>
            <a:ext cx="2926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303C"/>
                </a:solidFill>
                <a:latin typeface="Aptos"/>
              </a:defRPr>
            </a:pPr>
            <a:r>
              <a:t>• Most studies focus on a single retail analytics task.</a:t>
            </a:r>
          </a:p>
          <a:p>
            <a:pPr>
              <a:spcAft>
                <a:spcPts val="1000"/>
              </a:spcAft>
              <a:defRPr sz="1300">
                <a:solidFill>
                  <a:srgbClr val="26303C"/>
                </a:solidFill>
                <a:latin typeface="Aptos"/>
              </a:defRPr>
            </a:pPr>
            <a:r>
              <a:t>• Analytical outputs are generally developed and interpreted independently.</a:t>
            </a:r>
          </a:p>
          <a:p>
            <a:pPr>
              <a:spcAft>
                <a:spcPts val="1000"/>
              </a:spcAft>
              <a:defRPr sz="1300">
                <a:solidFill>
                  <a:srgbClr val="26303C"/>
                </a:solidFill>
                <a:latin typeface="Aptos"/>
              </a:defRPr>
            </a:pPr>
            <a:r>
              <a:t>• Limited integration of multiple ML and data-mining techniques.</a:t>
            </a:r>
          </a:p>
          <a:p>
            <a:pPr>
              <a:spcAft>
                <a:spcPts val="1000"/>
              </a:spcAft>
              <a:defRPr sz="1300">
                <a:solidFill>
                  <a:srgbClr val="26303C"/>
                </a:solidFill>
                <a:latin typeface="Aptos"/>
              </a:defRPr>
            </a:pPr>
            <a:r>
              <a:t>• Limited conversion of combined analytical results into business recommendations.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96012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960120"/>
            <a:ext cx="3474720" cy="109728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1887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"/>
              </a:defRPr>
            </a:pPr>
            <a:r>
              <a:t>Identified Research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2926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303C"/>
                </a:solidFill>
                <a:latin typeface="Aptos"/>
              </a:defRPr>
            </a:pPr>
            <a:r>
              <a:t>• No unified framework connecting customer, product, sales, and purchasing analytics.</a:t>
            </a:r>
          </a:p>
          <a:p>
            <a:pPr>
              <a:spcAft>
                <a:spcPts val="1000"/>
              </a:spcAft>
              <a:defRPr sz="1300">
                <a:solidFill>
                  <a:srgbClr val="26303C"/>
                </a:solidFill>
                <a:latin typeface="Aptos"/>
              </a:defRPr>
            </a:pPr>
            <a:r>
              <a:t>• Limited integration of segmentation, anomaly detection, and market basket analysis.</a:t>
            </a:r>
          </a:p>
          <a:p>
            <a:pPr>
              <a:spcAft>
                <a:spcPts val="1000"/>
              </a:spcAft>
              <a:defRPr sz="1300">
                <a:solidFill>
                  <a:srgbClr val="26303C"/>
                </a:solidFill>
                <a:latin typeface="Aptos"/>
              </a:defRPr>
            </a:pPr>
            <a:r>
              <a:t>• Limited automated generation of actionable business recommendations.</a:t>
            </a:r>
          </a:p>
          <a:p>
            <a:pPr>
              <a:spcAft>
                <a:spcPts val="1000"/>
              </a:spcAft>
              <a:defRPr sz="1300">
                <a:solidFill>
                  <a:srgbClr val="26303C"/>
                </a:solidFill>
                <a:latin typeface="Aptos"/>
              </a:defRPr>
            </a:pPr>
            <a:r>
              <a:t>• Limited synthesis of complex analytics into an overall Business Health Verdict.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623560"/>
            <a:ext cx="10332720" cy="566928"/>
          </a:xfrm>
          <a:prstGeom prst="roundRect">
            <a:avLst/>
          </a:prstGeom>
          <a:solidFill>
            <a:srgbClr val="E6F3F4"/>
          </a:solidFill>
          <a:ln>
            <a:solidFill>
              <a:srgbClr val="BE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57607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8B89"/>
                </a:solidFill>
                <a:latin typeface="Aptos"/>
              </a:defRPr>
            </a:pPr>
            <a:r>
              <a:t>Research Gap → Integrate multiple retail analytics → Generate actionable business feedback → Support strategic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Innovation /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4630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2E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8291"/>
                </a:solidFill>
                <a:latin typeface="Aptos"/>
              </a:defRPr>
            </a:pPr>
            <a:r>
              <a:t>Project Review – I  |  Batch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1" y="1124712"/>
            <a:ext cx="457200" cy="457200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1612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12471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t>Automated Business Feedback Generation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03C"/>
                </a:solidFill>
                <a:latin typeface="Aptos"/>
              </a:defRPr>
            </a:pPr>
            <a:r>
              <a:t>Converts analytical and machine learning outputs into actionable recommendations instead of stopping at dashboards or predictive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960120"/>
            <a:ext cx="5440680" cy="1920240"/>
          </a:xfrm>
          <a:prstGeom prst="roundRect">
            <a:avLst/>
          </a:prstGeom>
          <a:solidFill>
            <a:srgbClr val="E6F3F4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45352" y="1124712"/>
            <a:ext cx="457200" cy="457200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5352" y="11612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124712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t>Business Health Verdict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618488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03C"/>
                </a:solidFill>
                <a:latin typeface="Aptos"/>
              </a:defRPr>
            </a:pPr>
            <a:r>
              <a:t>Provides management with a concise interpretation of business strengths, risks, and growth opportunities.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2240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7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675887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1F34"/>
                </a:solidFill>
              </a:defRPr>
            </a:pPr>
            <a:r>
              <a:t>Customer &amp; Sales</a:t>
            </a:r>
            <a:br/>
            <a:r>
              <a:t>Analytics</a:t>
            </a:r>
          </a:p>
        </p:txBody>
      </p:sp>
      <p:sp>
        <p:nvSpPr>
          <p:cNvPr id="18" name="Chevron 17"/>
          <p:cNvSpPr/>
          <p:nvPr/>
        </p:nvSpPr>
        <p:spPr>
          <a:xfrm>
            <a:off x="3017520" y="3703320"/>
            <a:ext cx="384048" cy="502920"/>
          </a:xfrm>
          <a:prstGeom prst="chevron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520439" y="3429000"/>
            <a:ext cx="2240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7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79" y="3675887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1F34"/>
                </a:solidFill>
              </a:defRPr>
            </a:pPr>
            <a:r>
              <a:t>ML &amp; Data</a:t>
            </a:r>
            <a:br/>
            <a:r>
              <a:t>Mining</a:t>
            </a:r>
          </a:p>
        </p:txBody>
      </p:sp>
      <p:sp>
        <p:nvSpPr>
          <p:cNvPr id="21" name="Chevron 20"/>
          <p:cNvSpPr/>
          <p:nvPr/>
        </p:nvSpPr>
        <p:spPr>
          <a:xfrm>
            <a:off x="5806440" y="3703320"/>
            <a:ext cx="384048" cy="502920"/>
          </a:xfrm>
          <a:prstGeom prst="chevron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09359" y="3429000"/>
            <a:ext cx="2240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7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799" y="3675887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1F34"/>
                </a:solidFill>
              </a:defRPr>
            </a:pPr>
            <a:r>
              <a:t>Integrated</a:t>
            </a:r>
            <a:br/>
            <a:r>
              <a:t>Evaluation</a:t>
            </a:r>
          </a:p>
        </p:txBody>
      </p:sp>
      <p:sp>
        <p:nvSpPr>
          <p:cNvPr id="24" name="Chevron 23"/>
          <p:cNvSpPr/>
          <p:nvPr/>
        </p:nvSpPr>
        <p:spPr>
          <a:xfrm>
            <a:off x="8595359" y="3703320"/>
            <a:ext cx="384048" cy="502920"/>
          </a:xfrm>
          <a:prstGeom prst="chevron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098280" y="3429000"/>
            <a:ext cx="2240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7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9719" y="3675887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1F34"/>
                </a:solidFill>
              </a:defRPr>
            </a:pPr>
            <a:r>
              <a:t>Actionable</a:t>
            </a:r>
            <a:br/>
            <a:r>
              <a:t>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92040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Recommendations target marketing, inventory, customer retention, and revenue improvement.</a:t>
            </a:r>
          </a:p>
          <a:p>
            <a:pPr>
              <a:spcAft>
                <a:spcPts val="9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Evaluates revenue performance, customer value, retention, product performance, purchasing patterns, and anomalies.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4630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2E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8291"/>
                </a:solidFill>
                <a:latin typeface="Aptos"/>
              </a:defRPr>
            </a:pPr>
            <a:r>
              <a:t>Project Review – I  |  Batch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5394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" y="1078992"/>
            <a:ext cx="457200" cy="457200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11556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078992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t>Technical 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7276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03C"/>
                </a:solidFill>
                <a:latin typeface="Aptos"/>
              </a:defRPr>
            </a:pPr>
            <a:r>
              <a:t>Python, Pandas, NumPy, Scikit-learn, SQL, Power BI, and Jupyter Notebook. K-Means, DBSCAN, Isolation Forest, and Apriori are implementable with existing libraries.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14400"/>
            <a:ext cx="5394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36792" y="1078992"/>
            <a:ext cx="457200" cy="457200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11556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078992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t>Data 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7276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03C"/>
                </a:solidFill>
                <a:latin typeface="Aptos"/>
              </a:defRPr>
            </a:pPr>
            <a:r>
              <a:t>Publicly available retail transaction datasets provide information for customer behavior, sales, product performance, segmentation, and market basket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971800"/>
            <a:ext cx="5394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58952" y="3136392"/>
            <a:ext cx="457200" cy="457200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17296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136392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t>Economic Feasibility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3016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03C"/>
                </a:solidFill>
                <a:latin typeface="Aptos"/>
              </a:defRPr>
            </a:pPr>
            <a:r>
              <a:t>Primarily open-source and freely available tools → minimal development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971800"/>
            <a:ext cx="5394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36792" y="3136392"/>
            <a:ext cx="457200" cy="457200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317296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136392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t>Operational Feasibility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3016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03C"/>
                </a:solidFill>
                <a:latin typeface="Aptos"/>
              </a:defRPr>
            </a:pPr>
            <a:r>
              <a:t>Dashboards and automated feedback present results in an understandable form for business users without advanced ML knowledge.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5029200"/>
            <a:ext cx="5394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547872" y="5193792"/>
            <a:ext cx="457200" cy="457200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47872" y="523036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193792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t>Overall Feasibility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568756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03C"/>
                </a:solidFill>
                <a:latin typeface="Aptos"/>
              </a:defRPr>
            </a:pPr>
            <a:r>
              <a:t>Can be implemented incrementally within the academic timeline: preprocessing → analytics → ML → visualization → automated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ED2E1"/>
                </a:solidFill>
                <a:latin typeface="Aptos"/>
              </a:defRPr>
            </a:pPr>
            <a:r>
              <a:t>08-08-2026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6"/>
              </a:solidFill>
              <a:highlight>
                <a:srgbClr val="FFFF00"/>
              </a:highlight>
            </a:endParaRPr>
          </a:p>
        </p:txBody>
      </p:sp>
      <p:sp>
        <p:nvSpPr>
          <p:cNvPr id="6" name="Oval 5"/>
          <p:cNvSpPr/>
          <p:nvPr/>
        </p:nvSpPr>
        <p:spPr>
          <a:xfrm>
            <a:off x="868680" y="1325880"/>
            <a:ext cx="621792" cy="621792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6217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234439"/>
            <a:ext cx="286187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rPr dirty="0">
                <a:highlight>
                  <a:srgbClr val="FFFF00"/>
                </a:highlight>
              </a:rPr>
              <a:t>Research &amp; Problem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18488"/>
            <a:ext cx="333456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03C"/>
                </a:solidFill>
                <a:latin typeface="Aptos"/>
              </a:defRPr>
            </a:pPr>
            <a:r>
              <a:rPr dirty="0">
                <a:highlight>
                  <a:srgbClr val="FFFF00"/>
                </a:highlight>
              </a:rPr>
              <a:t>Problem statement, literature survey and research 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051560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92240" y="1325880"/>
            <a:ext cx="621792" cy="621792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90472"/>
            <a:ext cx="6217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234439"/>
            <a:ext cx="278127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rPr dirty="0">
                <a:highlight>
                  <a:srgbClr val="FFFF00"/>
                </a:highlight>
              </a:rPr>
              <a:t>Data Collection &amp;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618488"/>
            <a:ext cx="382188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03C"/>
                </a:solidFill>
                <a:latin typeface="Aptos"/>
              </a:defRPr>
            </a:pPr>
            <a:r>
              <a:rPr dirty="0">
                <a:highlight>
                  <a:srgbClr val="FFFF00"/>
                </a:highlight>
              </a:rPr>
              <a:t>Dataset collection, understanding, cleaning and preprocessing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532888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2807208"/>
            <a:ext cx="621792" cy="621792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971800"/>
            <a:ext cx="6217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71576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t>Retail Data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099816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03C"/>
                </a:solidFill>
                <a:latin typeface="Aptos"/>
              </a:defRPr>
            </a:pPr>
            <a:r>
              <a:t>EDA, statistical analysis, customer/product analytics and KPIs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532888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92240" y="2807208"/>
            <a:ext cx="621792" cy="621792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971800"/>
            <a:ext cx="6217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71576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t>ML &amp; Pattern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099816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03C"/>
                </a:solidFill>
                <a:latin typeface="Aptos"/>
              </a:defRPr>
            </a:pPr>
            <a:r>
              <a:t>RFM, segmentation, anomaly detection and market basket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14216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8680" y="4288536"/>
            <a:ext cx="621792" cy="621792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453128"/>
            <a:ext cx="6217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197096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t>Dashboard &amp; Business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581144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03C"/>
                </a:solidFill>
                <a:latin typeface="Aptos"/>
              </a:defRPr>
            </a:pPr>
            <a:r>
              <a:t>Power BI dashboards, automated feedback and Business Health Verdict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014216"/>
            <a:ext cx="52120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92240" y="4288536"/>
            <a:ext cx="621792" cy="621792"/>
          </a:xfrm>
          <a:prstGeom prst="ellipse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4453128"/>
            <a:ext cx="6217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197096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1F34"/>
                </a:solidFill>
                <a:latin typeface="Aptos"/>
              </a:defRPr>
            </a:pPr>
            <a:r>
              <a:t>Testing &amp; Finalization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581144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03C"/>
                </a:solidFill>
                <a:latin typeface="Aptos"/>
              </a:defRPr>
            </a:pPr>
            <a:r>
              <a:t>Testing, evaluation, documentation, GitHub and final 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806440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8B89"/>
                </a:solidFill>
                <a:latin typeface="Aptos"/>
              </a:defRPr>
            </a:pPr>
            <a:r>
              <a:t>RESEARCH  →  DATA  →  ANALYTICS  →  ML  →  BUSINESS INSIGHTS  →  FINAL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887"/>
                </a:solidFill>
                <a:latin typeface="Aptos"/>
              </a:defRPr>
            </a:pPr>
            <a:r>
              <a:t>Project Review – I  |  Batch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1587</Words>
  <Application>Microsoft Office PowerPoint</Application>
  <PresentationFormat>Widescreen</PresentationFormat>
  <Paragraphs>199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 Display</vt:lpstr>
      <vt:lpstr>Arial</vt:lpstr>
      <vt:lpstr>Calibri</vt:lpstr>
      <vt:lpstr>Roboto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yakkalaamith@outlook.com</cp:lastModifiedBy>
  <cp:revision>6</cp:revision>
  <dcterms:created xsi:type="dcterms:W3CDTF">2013-01-27T09:14:16Z</dcterms:created>
  <dcterms:modified xsi:type="dcterms:W3CDTF">2026-08-12T04:12:33Z</dcterms:modified>
  <cp:category/>
</cp:coreProperties>
</file>